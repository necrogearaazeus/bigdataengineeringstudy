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omfortaa Bold"/>
      <p:regular r:id="rId201314"/>
    </p:embeddedFont>
    <p:embeddedFont>
      <p:font typeface="Comfortaa Medium"/>
      <p:regular r:id="rId201315"/>
    </p:embeddedFont>
    <p:embeddedFont>
      <p:font typeface="Raleway Medium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B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10977"/>
            <a:ext cx="10723294" cy="446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8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0. 오늘 하는 것</a:t>
            </a:r>
            <a:endParaRPr lang="ko-KR" sz="2800" dirty="0"/>
          </a:p>
        </p:txBody>
      </p:sp>
      <p:sp>
        <p:nvSpPr>
          <p:cNvPr id="3" name="Shape 1"/>
          <p:cNvSpPr/>
          <p:nvPr/>
        </p:nvSpPr>
        <p:spPr>
          <a:xfrm>
            <a:off x="734200" y="1238250"/>
            <a:ext cx="10723294" cy="2576909"/>
          </a:xfrm>
          <a:prstGeom prst="roundRect">
            <a:avLst>
              <a:gd name="adj" fmla="val 9350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4200" y="1669852"/>
            <a:ext cx="10723294" cy="1004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4200" y="2098278"/>
            <a:ext cx="10723294" cy="1004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2526705"/>
            <a:ext cx="10723294" cy="1004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2955131"/>
            <a:ext cx="10723294" cy="1004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3383558"/>
            <a:ext cx="10723294" cy="1004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02372" y="1335187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과제</a:t>
            </a:r>
            <a:endParaRPr lang="ko-KR" sz="1250" dirty="0"/>
          </a:p>
        </p:txBody>
      </p:sp>
      <p:sp>
        <p:nvSpPr>
          <p:cNvPr id="10" name="Text 8"/>
          <p:cNvSpPr/>
          <p:nvPr/>
        </p:nvSpPr>
        <p:spPr>
          <a:xfrm>
            <a:off x="4471776" y="1335187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무엇을 하는가</a:t>
            </a:r>
            <a:endParaRPr 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8041181" y="1335187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완료 판정</a:t>
            </a:r>
            <a:endParaRPr lang="ko-KR" sz="1250" dirty="0"/>
          </a:p>
        </p:txBody>
      </p:sp>
      <p:sp>
        <p:nvSpPr>
          <p:cNvPr id="12" name="Text 10"/>
          <p:cNvSpPr/>
          <p:nvPr/>
        </p:nvSpPr>
        <p:spPr>
          <a:xfrm>
            <a:off x="902372" y="176361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71776" y="176361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설치 전 점검</a:t>
            </a:r>
            <a:endParaRPr lang="ko-KR" sz="1250" dirty="0"/>
          </a:p>
        </p:txBody>
      </p:sp>
      <p:sp>
        <p:nvSpPr>
          <p:cNvPr id="14" name="Text 12"/>
          <p:cNvSpPr/>
          <p:nvPr/>
        </p:nvSpPr>
        <p:spPr>
          <a:xfrm>
            <a:off x="8041181" y="176361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설치본을 찾았고 디스크 여유가 확인됐다</a:t>
            </a:r>
            <a:endParaRPr lang="ko-KR" sz="1250" dirty="0"/>
          </a:p>
        </p:txBody>
      </p:sp>
      <p:sp>
        <p:nvSpPr>
          <p:cNvPr id="15" name="Text 13"/>
          <p:cNvSpPr/>
          <p:nvPr/>
        </p:nvSpPr>
        <p:spPr>
          <a:xfrm>
            <a:off x="902372" y="219204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71776" y="219204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Docker Desktop 설치와 첫 컨테이너</a:t>
            </a:r>
            <a:endParaRPr lang="ko-KR" sz="1250" dirty="0"/>
          </a:p>
        </p:txBody>
      </p:sp>
      <p:sp>
        <p:nvSpPr>
          <p:cNvPr id="17" name="Text 15"/>
          <p:cNvSpPr/>
          <p:nvPr/>
        </p:nvSpPr>
        <p:spPr>
          <a:xfrm>
            <a:off x="8041181" y="219204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docker run hello-world 가 메시지를 출력한다</a:t>
            </a:r>
            <a:endParaRPr lang="ko-KR" sz="1250" dirty="0"/>
          </a:p>
        </p:txBody>
      </p:sp>
      <p:sp>
        <p:nvSpPr>
          <p:cNvPr id="18" name="Text 16"/>
          <p:cNvSpPr/>
          <p:nvPr/>
        </p:nvSpPr>
        <p:spPr>
          <a:xfrm>
            <a:off x="902372" y="2620466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471776" y="2620466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작업 리포지토리 개설</a:t>
            </a:r>
            <a:endParaRPr lang="ko-KR" sz="1250" dirty="0"/>
          </a:p>
        </p:txBody>
      </p:sp>
      <p:sp>
        <p:nvSpPr>
          <p:cNvPr id="20" name="Text 18"/>
          <p:cNvSpPr/>
          <p:nvPr/>
        </p:nvSpPr>
        <p:spPr>
          <a:xfrm>
            <a:off x="8041181" y="2620466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첫 커밋이 남았다</a:t>
            </a:r>
            <a:endParaRPr lang="ko-KR" sz="1250" dirty="0"/>
          </a:p>
        </p:txBody>
      </p:sp>
      <p:sp>
        <p:nvSpPr>
          <p:cNvPr id="21" name="Text 19"/>
          <p:cNvSpPr/>
          <p:nvPr/>
        </p:nvSpPr>
        <p:spPr>
          <a:xfrm>
            <a:off x="902372" y="304889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471776" y="304889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TFDS-Edu 조감과 경로 그리기</a:t>
            </a:r>
            <a:endParaRPr lang="ko-KR" sz="1250" dirty="0"/>
          </a:p>
        </p:txBody>
      </p:sp>
      <p:sp>
        <p:nvSpPr>
          <p:cNvPr id="23" name="Text 21"/>
          <p:cNvSpPr/>
          <p:nvPr/>
        </p:nvSpPr>
        <p:spPr>
          <a:xfrm>
            <a:off x="8041181" y="3048893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센서에서 화면까지 경로가 한 줄 이어졌다</a:t>
            </a:r>
            <a:endParaRPr lang="ko-KR" sz="1250" dirty="0"/>
          </a:p>
        </p:txBody>
      </p:sp>
      <p:sp>
        <p:nvSpPr>
          <p:cNvPr id="24" name="Text 22"/>
          <p:cNvSpPr/>
          <p:nvPr/>
        </p:nvSpPr>
        <p:spPr>
          <a:xfrm>
            <a:off x="902372" y="347732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P4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471776" y="347732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오늘 가장 모르겠는 것</a:t>
            </a:r>
            <a:endParaRPr lang="ko-KR" sz="1250" dirty="0"/>
          </a:p>
        </p:txBody>
      </p:sp>
      <p:sp>
        <p:nvSpPr>
          <p:cNvPr id="26" name="Text 24"/>
          <p:cNvSpPr/>
          <p:nvPr/>
        </p:nvSpPr>
        <p:spPr>
          <a:xfrm>
            <a:off x="8041181" y="3477320"/>
            <a:ext cx="385792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칸 1개와 궁금한 것 1줄이 봉인됐다</a:t>
            </a:r>
            <a:endParaRPr lang="ko-KR" sz="1250" dirty="0"/>
          </a:p>
        </p:txBody>
      </p:sp>
      <p:sp>
        <p:nvSpPr>
          <p:cNvPr id="27" name="Shape 25"/>
          <p:cNvSpPr/>
          <p:nvPr/>
        </p:nvSpPr>
        <p:spPr>
          <a:xfrm>
            <a:off x="734200" y="3973215"/>
            <a:ext cx="5291402" cy="544116"/>
          </a:xfrm>
          <a:prstGeom prst="roundRect">
            <a:avLst>
              <a:gd name="adj" fmla="val 44281"/>
            </a:avLst>
          </a:prstGeom>
          <a:solidFill>
            <a:srgbClr val="46464A"/>
          </a:solidFill>
          <a:ln/>
        </p:spPr>
      </p:sp>
      <p:sp>
        <p:nvSpPr>
          <p:cNvPr id="28" name="Text 26"/>
          <p:cNvSpPr/>
          <p:nvPr/>
        </p:nvSpPr>
        <p:spPr>
          <a:xfrm>
            <a:off x="894732" y="4133751"/>
            <a:ext cx="4970338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컨테이너 런타임 1식</a:t>
            </a:r>
            <a:endParaRPr lang="ko-KR" sz="1400" dirty="0"/>
          </a:p>
        </p:txBody>
      </p:sp>
      <p:sp>
        <p:nvSpPr>
          <p:cNvPr id="29" name="Shape 27"/>
          <p:cNvSpPr/>
          <p:nvPr/>
        </p:nvSpPr>
        <p:spPr>
          <a:xfrm>
            <a:off x="6166093" y="3973215"/>
            <a:ext cx="5291402" cy="544116"/>
          </a:xfrm>
          <a:prstGeom prst="roundRect">
            <a:avLst>
              <a:gd name="adj" fmla="val 44281"/>
            </a:avLst>
          </a:prstGeom>
          <a:solidFill>
            <a:srgbClr val="46464A"/>
          </a:solidFill>
          <a:ln/>
        </p:spPr>
      </p:sp>
      <p:sp>
        <p:nvSpPr>
          <p:cNvPr id="30" name="Text 28"/>
          <p:cNvSpPr/>
          <p:nvPr/>
        </p:nvSpPr>
        <p:spPr>
          <a:xfrm>
            <a:off x="6326625" y="4133751"/>
            <a:ext cx="4970338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작업 리포지토리 1개</a:t>
            </a:r>
            <a:endParaRPr lang="ko-KR" sz="1400" dirty="0"/>
          </a:p>
        </p:txBody>
      </p:sp>
      <p:sp>
        <p:nvSpPr>
          <p:cNvPr id="31" name="Shape 29"/>
          <p:cNvSpPr/>
          <p:nvPr/>
        </p:nvSpPr>
        <p:spPr>
          <a:xfrm>
            <a:off x="734200" y="4657824"/>
            <a:ext cx="5291402" cy="544116"/>
          </a:xfrm>
          <a:prstGeom prst="roundRect">
            <a:avLst>
              <a:gd name="adj" fmla="val 44281"/>
            </a:avLst>
          </a:prstGeom>
          <a:solidFill>
            <a:srgbClr val="46464A"/>
          </a:solidFill>
          <a:ln/>
        </p:spPr>
      </p:sp>
      <p:sp>
        <p:nvSpPr>
          <p:cNvPr id="32" name="Text 30"/>
          <p:cNvSpPr/>
          <p:nvPr/>
        </p:nvSpPr>
        <p:spPr>
          <a:xfrm>
            <a:off x="894732" y="4818360"/>
            <a:ext cx="4970338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조감 노트 1장</a:t>
            </a:r>
            <a:endParaRPr lang="ko-KR" sz="1400" dirty="0"/>
          </a:p>
        </p:txBody>
      </p:sp>
      <p:sp>
        <p:nvSpPr>
          <p:cNvPr id="33" name="Shape 31"/>
          <p:cNvSpPr/>
          <p:nvPr/>
        </p:nvSpPr>
        <p:spPr>
          <a:xfrm>
            <a:off x="6166093" y="4657824"/>
            <a:ext cx="5291402" cy="544116"/>
          </a:xfrm>
          <a:prstGeom prst="roundRect">
            <a:avLst>
              <a:gd name="adj" fmla="val 44281"/>
            </a:avLst>
          </a:prstGeom>
          <a:solidFill>
            <a:srgbClr val="46464A"/>
          </a:solidFill>
          <a:ln/>
        </p:spPr>
      </p:sp>
      <p:sp>
        <p:nvSpPr>
          <p:cNvPr id="34" name="Text 32"/>
          <p:cNvSpPr/>
          <p:nvPr/>
        </p:nvSpPr>
        <p:spPr>
          <a:xfrm>
            <a:off x="6326625" y="4818360"/>
            <a:ext cx="4970338" cy="223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봉인 답안 1장</a:t>
            </a:r>
            <a:endParaRPr lang="ko-KR" sz="1400" dirty="0"/>
          </a:p>
        </p:txBody>
      </p:sp>
      <p:sp>
        <p:nvSpPr>
          <p:cNvPr id="35" name="Text 33"/>
          <p:cNvSpPr/>
          <p:nvPr/>
        </p:nvSpPr>
        <p:spPr>
          <a:xfrm>
            <a:off x="734200" y="5359995"/>
            <a:ext cx="11332879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 남기는 것 넷</a:t>
            </a:r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컨테이너 런타임 1식 · 작업 리포지토리 1개 · 조감 노트 1장 · 봉인 답안 1장</a:t>
            </a:r>
            <a:endParaRPr lang="ko-KR" sz="1250" dirty="0"/>
          </a:p>
        </p:txBody>
      </p:sp>
      <p:sp>
        <p:nvSpPr>
          <p:cNvPr id="36" name="Shape 34"/>
          <p:cNvSpPr/>
          <p:nvPr/>
        </p:nvSpPr>
        <p:spPr>
          <a:xfrm>
            <a:off x="734200" y="5758954"/>
            <a:ext cx="10723294" cy="587970"/>
          </a:xfrm>
          <a:prstGeom prst="roundRect">
            <a:avLst>
              <a:gd name="adj" fmla="val 40979"/>
            </a:avLst>
          </a:prstGeom>
          <a:solidFill>
            <a:srgbClr val="806A00"/>
          </a:solidFill>
          <a:ln/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732" y="5957788"/>
            <a:ext cx="200715" cy="16053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255979" y="5939532"/>
            <a:ext cx="10650569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오늘은 시스템의 칸을 하나도 세우지 않는다.</a:t>
            </a:r>
            <a:pPr algn="l" indent="0" marL="0">
              <a:lnSpc>
                <a:spcPct val="125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칸을 담을 바닥을 만든다.</a:t>
            </a:r>
            <a:endParaRPr lang="ko-KR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15380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P0. 설치 전 점검 (10분)</a:t>
            </a:r>
            <a:endParaRPr lang="ko-KR" sz="3200" dirty="0"/>
          </a:p>
        </p:txBody>
      </p:sp>
      <p:sp>
        <p:nvSpPr>
          <p:cNvPr id="3" name="Text 1"/>
          <p:cNvSpPr/>
          <p:nvPr/>
        </p:nvSpPr>
        <p:spPr>
          <a:xfrm>
            <a:off x="734200" y="2492474"/>
            <a:ext cx="1133287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클릭부터 하지 않는다.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무엇을 세우는 것인지 먼저 본다.</a:t>
            </a:r>
            <a:endParaRPr lang="ko-KR" sz="1400" dirty="0"/>
          </a:p>
        </p:txBody>
      </p:sp>
      <p:sp>
        <p:nvSpPr>
          <p:cNvPr id="4" name="Shape 2"/>
          <p:cNvSpPr/>
          <p:nvPr/>
        </p:nvSpPr>
        <p:spPr>
          <a:xfrm>
            <a:off x="734200" y="2992636"/>
            <a:ext cx="413037" cy="413048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5" name="Text 3"/>
          <p:cNvSpPr/>
          <p:nvPr/>
        </p:nvSpPr>
        <p:spPr>
          <a:xfrm>
            <a:off x="818336" y="3046164"/>
            <a:ext cx="244667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30788" y="3055739"/>
            <a:ext cx="2824886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공유 폴더에서 파일 둘의 위치를 확인한다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1330788" y="3675856"/>
            <a:ext cx="2824886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설치본과 hello-world.tar</a:t>
            </a:r>
            <a:endParaRPr 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4385061" y="2992636"/>
            <a:ext cx="413037" cy="413048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9" name="Text 7"/>
          <p:cNvSpPr/>
          <p:nvPr/>
        </p:nvSpPr>
        <p:spPr>
          <a:xfrm>
            <a:off x="4469197" y="3046164"/>
            <a:ext cx="244667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81649" y="3055739"/>
            <a:ext cx="282488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디스크 여유 공간을 확인한다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4981649" y="3420864"/>
            <a:ext cx="282488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파일 탐색기 → 내 PC → 설치할 드라이브의 남은 용량을 본다. 12주 동안 이미지가 쌓이므로 여유가 필요하다.</a:t>
            </a:r>
            <a:endParaRPr lang="ko-KR" sz="1400" dirty="0"/>
          </a:p>
        </p:txBody>
      </p:sp>
      <p:sp>
        <p:nvSpPr>
          <p:cNvPr id="12" name="Shape 10"/>
          <p:cNvSpPr/>
          <p:nvPr/>
        </p:nvSpPr>
        <p:spPr>
          <a:xfrm>
            <a:off x="8035922" y="2992636"/>
            <a:ext cx="413037" cy="413048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13" name="Text 11"/>
          <p:cNvSpPr/>
          <p:nvPr/>
        </p:nvSpPr>
        <p:spPr>
          <a:xfrm>
            <a:off x="8120058" y="3046164"/>
            <a:ext cx="244667" cy="305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632510" y="3055739"/>
            <a:ext cx="282498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이미 설치돼 있는지 확인한다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8632510" y="3420864"/>
            <a:ext cx="2824985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시작 메뉴에서 Docker Desktop 을 찾아본다. 있으면 P1 의 ④부터 해서 검증만 하고 통과한다.</a:t>
            </a:r>
            <a:endParaRPr lang="ko-KR" sz="1400" dirty="0"/>
          </a:p>
        </p:txBody>
      </p:sp>
      <p:sp>
        <p:nvSpPr>
          <p:cNvPr id="16" name="Shape 14"/>
          <p:cNvSpPr/>
          <p:nvPr/>
        </p:nvSpPr>
        <p:spPr>
          <a:xfrm>
            <a:off x="734200" y="4508401"/>
            <a:ext cx="10723294" cy="734120"/>
          </a:xfrm>
          <a:prstGeom prst="roundRect">
            <a:avLst>
              <a:gd name="adj" fmla="val 37509"/>
            </a:avLst>
          </a:prstGeom>
          <a:solidFill>
            <a:srgbClr val="806A00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4774009"/>
            <a:ext cx="229388" cy="18355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30689" y="4737795"/>
            <a:ext cx="1055284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 세우는 것의 이름은 「컨테이너 런타임」이다.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왜 이것이 필요한지는 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10주차</a:t>
            </a:r>
            <a:pPr algn="l" indent="0" marL="0">
              <a:lnSpc>
                <a:spcPct val="133000"/>
              </a:lnSpc>
              <a:buNone/>
            </a:pPr>
            <a:r>
              <a:rPr lang="ko-KR" altLang="en-US" sz="14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에 다룬다. 오늘은 이름과 자리만 안다.</a:t>
            </a:r>
            <a:endParaRPr lang="ko-KR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P1. Docker Desktop 설치와 첫 컨테이너 (45분)</a:t>
            </a:r>
            <a:endParaRPr lang="ko-KR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85159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도착점은 설치 완료가 아니다.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컨테이너 하나를 띄우고 종료하는 데까지 간다.</a:t>
            </a:r>
            <a:endParaRPr lang="ko-KR" sz="700" dirty="0"/>
          </a:p>
        </p:txBody>
      </p:sp>
      <p:sp>
        <p:nvSpPr>
          <p:cNvPr id="4" name="Text 2"/>
          <p:cNvSpPr/>
          <p:nvPr/>
        </p:nvSpPr>
        <p:spPr>
          <a:xfrm>
            <a:off x="734200" y="1030486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① 설치본 실행</a:t>
            </a:r>
            <a:endParaRPr lang="ko-KR" sz="1250" dirty="0"/>
          </a:p>
        </p:txBody>
      </p:sp>
      <p:sp>
        <p:nvSpPr>
          <p:cNvPr id="5" name="Text 3"/>
          <p:cNvSpPr/>
          <p:nvPr/>
        </p:nvSpPr>
        <p:spPr>
          <a:xfrm>
            <a:off x="734200" y="1303238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공유 폴더의 설치본을 실행하고 마법사를 진행한다.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기본 설정 그대로 둔다.</a:t>
            </a:r>
            <a:endParaRPr lang="ko-KR" sz="700" dirty="0"/>
          </a:p>
        </p:txBody>
      </p:sp>
      <p:sp>
        <p:nvSpPr>
          <p:cNvPr id="6" name="Text 4"/>
          <p:cNvSpPr/>
          <p:nvPr/>
        </p:nvSpPr>
        <p:spPr>
          <a:xfrm>
            <a:off x="734200" y="1482130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② 재부팅 ★ 건너뛰지 않는다</a:t>
            </a:r>
            <a:endParaRPr lang="ko-KR" sz="1250" dirty="0"/>
          </a:p>
        </p:txBody>
      </p:sp>
      <p:sp>
        <p:nvSpPr>
          <p:cNvPr id="7" name="Text 5"/>
          <p:cNvSpPr/>
          <p:nvPr/>
        </p:nvSpPr>
        <p:spPr>
          <a:xfrm>
            <a:off x="734200" y="1754882"/>
            <a:ext cx="10723294" cy="27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설치가 끝나면 재부팅을 요구한다.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반드시 재부팅한다.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Windows 에서 Docker 는 WSL2 라는 리눅스 실행 환경 위에서 도는데, 그 준비가 재부팅으로 끝난다.</a:t>
            </a:r>
            <a:endParaRPr lang="ko-KR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재부팅을 건너뛰면 설치는 됐는데 아무 명령도 통하지 않는다.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이 상태를 "설치 실패"로 오해하기 쉽다.</a:t>
            </a:r>
            <a:endParaRPr lang="ko-KR" sz="700" dirty="0"/>
          </a:p>
        </p:txBody>
      </p:sp>
      <p:sp>
        <p:nvSpPr>
          <p:cNvPr id="8" name="Text 6"/>
          <p:cNvSpPr/>
          <p:nvPr/>
        </p:nvSpPr>
        <p:spPr>
          <a:xfrm>
            <a:off x="734200" y="2095500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③ Docker Desktop 실행</a:t>
            </a:r>
            <a:endParaRPr lang="ko-KR" sz="1250" dirty="0"/>
          </a:p>
        </p:txBody>
      </p:sp>
      <p:sp>
        <p:nvSpPr>
          <p:cNvPr id="9" name="Text 7"/>
          <p:cNvSpPr/>
          <p:nvPr/>
        </p:nvSpPr>
        <p:spPr>
          <a:xfrm>
            <a:off x="734200" y="2368252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시작 메뉴에서 실행하고,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작업 표시줄의 고래 아이콘이 안정될 때까지 기다린다.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처음 실행은 시간이 걸린다.</a:t>
            </a:r>
            <a:endParaRPr lang="ko-KR" sz="700" dirty="0"/>
          </a:p>
        </p:txBody>
      </p:sp>
      <p:sp>
        <p:nvSpPr>
          <p:cNvPr id="10" name="Text 8"/>
          <p:cNvSpPr/>
          <p:nvPr/>
        </p:nvSpPr>
        <p:spPr>
          <a:xfrm>
            <a:off x="734200" y="2547144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④ 버전 확인</a:t>
            </a:r>
            <a:endParaRPr lang="ko-KR" sz="1250" dirty="0"/>
          </a:p>
        </p:txBody>
      </p:sp>
      <p:sp>
        <p:nvSpPr>
          <p:cNvPr id="11" name="Text 9"/>
          <p:cNvSpPr/>
          <p:nvPr/>
        </p:nvSpPr>
        <p:spPr>
          <a:xfrm>
            <a:off x="734200" y="2819896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PowerShell 을 열고 (시작 메뉴 → PowerShell)</a:t>
            </a:r>
            <a:endParaRPr lang="ko-KR" sz="700" dirty="0"/>
          </a:p>
        </p:txBody>
      </p:sp>
      <p:sp>
        <p:nvSpPr>
          <p:cNvPr id="12" name="Shape 10"/>
          <p:cNvSpPr/>
          <p:nvPr/>
        </p:nvSpPr>
        <p:spPr>
          <a:xfrm>
            <a:off x="734200" y="2981623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13" name="Text 11"/>
          <p:cNvSpPr/>
          <p:nvPr/>
        </p:nvSpPr>
        <p:spPr>
          <a:xfrm>
            <a:off x="844330" y="3073400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4200" y="336361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버전 문자열이 나오면 명령이 통하는 것이다.</a:t>
            </a:r>
            <a:endParaRPr lang="ko-KR" sz="700" dirty="0"/>
          </a:p>
        </p:txBody>
      </p:sp>
      <p:sp>
        <p:nvSpPr>
          <p:cNvPr id="15" name="Shape 13"/>
          <p:cNvSpPr/>
          <p:nvPr/>
        </p:nvSpPr>
        <p:spPr>
          <a:xfrm>
            <a:off x="734200" y="3525341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16" name="Text 14"/>
          <p:cNvSpPr/>
          <p:nvPr/>
        </p:nvSpPr>
        <p:spPr>
          <a:xfrm>
            <a:off x="844330" y="3617119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info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34200" y="3907334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오류 없이 정보가 쭉 나오면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엔진이 실제로 떠 있는 것이다.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④의 두 명령은 다른 것을 확인한다 — 앞은 명령이 있는지, 뒤는 엔진이 도는지.</a:t>
            </a:r>
            <a:endParaRPr lang="ko-KR" sz="700" dirty="0"/>
          </a:p>
        </p:txBody>
      </p:sp>
      <p:sp>
        <p:nvSpPr>
          <p:cNvPr id="18" name="Text 16"/>
          <p:cNvSpPr/>
          <p:nvPr/>
        </p:nvSpPr>
        <p:spPr>
          <a:xfrm>
            <a:off x="734200" y="4086225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⑤ 이미지 불러오기</a:t>
            </a:r>
            <a:endParaRPr lang="ko-KR" sz="1250" dirty="0"/>
          </a:p>
        </p:txBody>
      </p:sp>
      <p:sp>
        <p:nvSpPr>
          <p:cNvPr id="19" name="Shape 17"/>
          <p:cNvSpPr/>
          <p:nvPr/>
        </p:nvSpPr>
        <p:spPr>
          <a:xfrm>
            <a:off x="734200" y="4358977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20" name="Text 18"/>
          <p:cNvSpPr/>
          <p:nvPr/>
        </p:nvSpPr>
        <p:spPr>
          <a:xfrm>
            <a:off x="844330" y="4450755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load -i ____________________\hello-world.tar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34200" y="4740970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Loaded image: hello-world... 가 나오면 된다.</a:t>
            </a:r>
            <a:endParaRPr lang="ko-KR" sz="700" dirty="0"/>
          </a:p>
        </p:txBody>
      </p:sp>
      <p:sp>
        <p:nvSpPr>
          <p:cNvPr id="22" name="Shape 20"/>
          <p:cNvSpPr/>
          <p:nvPr/>
        </p:nvSpPr>
        <p:spPr>
          <a:xfrm>
            <a:off x="734200" y="4902696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23" name="Text 21"/>
          <p:cNvSpPr/>
          <p:nvPr/>
        </p:nvSpPr>
        <p:spPr>
          <a:xfrm>
            <a:off x="844330" y="4994473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34200" y="5284688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목록에 hello-world 가 보인다.</a:t>
            </a:r>
            <a:endParaRPr lang="ko-KR" sz="700" dirty="0"/>
          </a:p>
        </p:txBody>
      </p:sp>
      <p:sp>
        <p:nvSpPr>
          <p:cNvPr id="25" name="Text 23"/>
          <p:cNvSpPr/>
          <p:nvPr/>
        </p:nvSpPr>
        <p:spPr>
          <a:xfrm>
            <a:off x="734200" y="5463580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⑥ 컨테이너 실행</a:t>
            </a:r>
            <a:endParaRPr lang="ko-KR" sz="1250" dirty="0"/>
          </a:p>
        </p:txBody>
      </p:sp>
      <p:sp>
        <p:nvSpPr>
          <p:cNvPr id="26" name="Shape 24"/>
          <p:cNvSpPr/>
          <p:nvPr/>
        </p:nvSpPr>
        <p:spPr>
          <a:xfrm>
            <a:off x="734200" y="5736332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27" name="Text 25"/>
          <p:cNvSpPr/>
          <p:nvPr/>
        </p:nvSpPr>
        <p:spPr>
          <a:xfrm>
            <a:off x="844330" y="5828109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hello-world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34200" y="6118324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Hello from Docker! 로 시작하는 메시지가 나오면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 P1 은 끝이다.</a:t>
            </a:r>
            <a:endParaRPr lang="ko-KR" sz="700" dirty="0"/>
          </a:p>
        </p:txBody>
      </p:sp>
      <p:sp>
        <p:nvSpPr>
          <p:cNvPr id="29" name="Shape 27"/>
          <p:cNvSpPr/>
          <p:nvPr/>
        </p:nvSpPr>
        <p:spPr>
          <a:xfrm>
            <a:off x="734200" y="6280051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30" name="Text 28"/>
          <p:cNvSpPr/>
          <p:nvPr/>
        </p:nvSpPr>
        <p:spPr>
          <a:xfrm>
            <a:off x="844330" y="6371828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34200" y="6662043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방금 실행한 컨테이너가 Exited 상태로 남아 있다.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실행 중인 것과 남아 있는 것은 다르다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컨테이너는 할 일을 마치면 멈추고, 멈춘 뒤에도 흔적이 남는다.</a:t>
            </a:r>
            <a:endParaRPr lang="ko-KR" sz="700" dirty="0"/>
          </a:p>
        </p:txBody>
      </p:sp>
      <p:sp>
        <p:nvSpPr>
          <p:cNvPr id="32" name="Shape 30"/>
          <p:cNvSpPr/>
          <p:nvPr/>
        </p:nvSpPr>
        <p:spPr>
          <a:xfrm>
            <a:off x="734200" y="6823770"/>
            <a:ext cx="10723294" cy="243086"/>
          </a:xfrm>
          <a:prstGeom prst="roundRect">
            <a:avLst>
              <a:gd name="adj" fmla="val 49999"/>
            </a:avLst>
          </a:prstGeom>
          <a:solidFill>
            <a:srgbClr val="183A13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975" y="6892528"/>
            <a:ext cx="114694" cy="91777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032444" y="6892528"/>
            <a:ext cx="10942860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완료 판정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docker run hello-world 가 메시지를 출력한다. 설치가 끝난 것은 통과 조건이 아니라 전제다.</a:t>
            </a:r>
            <a:endParaRPr lang="ko-KR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04825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P2. 작업 리포지토리 (20분)</a:t>
            </a:r>
            <a:endParaRPr lang="ko-KR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85159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 만드는 이 폴더를 12주 내내 초기화하지 않는다.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5주차는 4주차 위에서 시작하고, 12주차 발표의 근거가 이 이력이다.</a:t>
            </a:r>
            <a:endParaRPr lang="ko-KR" sz="700" dirty="0"/>
          </a:p>
        </p:txBody>
      </p:sp>
      <p:sp>
        <p:nvSpPr>
          <p:cNvPr id="4" name="Text 2"/>
          <p:cNvSpPr/>
          <p:nvPr/>
        </p:nvSpPr>
        <p:spPr>
          <a:xfrm>
            <a:off x="734200" y="1030486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① 작업 폴더 생성</a:t>
            </a:r>
            <a:endParaRPr lang="ko-KR" sz="1250" dirty="0"/>
          </a:p>
        </p:txBody>
      </p:sp>
      <p:sp>
        <p:nvSpPr>
          <p:cNvPr id="5" name="Shape 3"/>
          <p:cNvSpPr/>
          <p:nvPr/>
        </p:nvSpPr>
        <p:spPr>
          <a:xfrm>
            <a:off x="734200" y="1303238"/>
            <a:ext cx="10723294" cy="477242"/>
          </a:xfrm>
          <a:prstGeom prst="roundRect">
            <a:avLst>
              <a:gd name="adj" fmla="val 28849"/>
            </a:avLst>
          </a:prstGeom>
          <a:solidFill>
            <a:srgbClr val="343438"/>
          </a:solidFill>
          <a:ln/>
        </p:spPr>
      </p:sp>
      <p:sp>
        <p:nvSpPr>
          <p:cNvPr id="6" name="Text 4"/>
          <p:cNvSpPr/>
          <p:nvPr/>
        </p:nvSpPr>
        <p:spPr>
          <a:xfrm>
            <a:off x="844330" y="1395016"/>
            <a:ext cx="10503034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c:\dev\big-ark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c:\dev\big-ark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4200" y="1832074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경로에 한글과 공백을 넣지 않는다.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뒤 주차에서 이 폴더를 컨테이너 안으로 연결할 때 걸린다. D: 드라이브가 없으면 → mkdir $HOME\dev\big-ark 로 대신한다.</a:t>
            </a:r>
            <a:endParaRPr lang="ko-KR" sz="700" dirty="0"/>
          </a:p>
        </p:txBody>
      </p:sp>
      <p:sp>
        <p:nvSpPr>
          <p:cNvPr id="8" name="Text 6"/>
          <p:cNvSpPr/>
          <p:nvPr/>
        </p:nvSpPr>
        <p:spPr>
          <a:xfrm>
            <a:off x="734200" y="2010966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② 회차별 폴더 만들기</a:t>
            </a:r>
            <a:endParaRPr lang="ko-KR" sz="1250" dirty="0"/>
          </a:p>
        </p:txBody>
      </p:sp>
      <p:sp>
        <p:nvSpPr>
          <p:cNvPr id="9" name="Shape 7"/>
          <p:cNvSpPr/>
          <p:nvPr/>
        </p:nvSpPr>
        <p:spPr>
          <a:xfrm>
            <a:off x="734200" y="2283718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10" name="Text 8"/>
          <p:cNvSpPr/>
          <p:nvPr/>
        </p:nvSpPr>
        <p:spPr>
          <a:xfrm>
            <a:off x="844330" y="2375495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1..12 | ForEach-Object { $d = "week{0:D2}" -f $_ mkdir $d | Out-Null New-Item "$d\.gitkeep" -ItemType File | Out-Null }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34200" y="2665710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한 줄씩 직접 만들어도 된다 (week01 … week12). .gitkeep 은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빈 폴더를 git 이 기억하게 하는 표식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이다 — git 은 빈 폴더를 기록하지 않는다.</a:t>
            </a:r>
            <a:endParaRPr lang="ko-KR" sz="700" dirty="0"/>
          </a:p>
        </p:txBody>
      </p:sp>
      <p:sp>
        <p:nvSpPr>
          <p:cNvPr id="12" name="Text 10"/>
          <p:cNvSpPr/>
          <p:nvPr/>
        </p:nvSpPr>
        <p:spPr>
          <a:xfrm>
            <a:off x="734200" y="2844602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③ git 시작하고 첫 커밋</a:t>
            </a:r>
            <a:endParaRPr lang="ko-KR" sz="1250" dirty="0"/>
          </a:p>
        </p:txBody>
      </p:sp>
      <p:sp>
        <p:nvSpPr>
          <p:cNvPr id="13" name="Text 11"/>
          <p:cNvSpPr/>
          <p:nvPr/>
        </p:nvSpPr>
        <p:spPr>
          <a:xfrm>
            <a:off x="734200" y="3117354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처음 쓰는 PC 라면 이름과 메일을 한 번 등록한다.</a:t>
            </a:r>
            <a:endParaRPr lang="ko-KR" sz="700" dirty="0"/>
          </a:p>
        </p:txBody>
      </p:sp>
      <p:sp>
        <p:nvSpPr>
          <p:cNvPr id="14" name="Shape 12"/>
          <p:cNvSpPr/>
          <p:nvPr/>
        </p:nvSpPr>
        <p:spPr>
          <a:xfrm>
            <a:off x="734200" y="3279080"/>
            <a:ext cx="10723294" cy="477242"/>
          </a:xfrm>
          <a:prstGeom prst="roundRect">
            <a:avLst>
              <a:gd name="adj" fmla="val 28849"/>
            </a:avLst>
          </a:prstGeom>
          <a:solidFill>
            <a:srgbClr val="343438"/>
          </a:solidFill>
          <a:ln/>
        </p:spPr>
      </p:sp>
      <p:sp>
        <p:nvSpPr>
          <p:cNvPr id="15" name="Text 13"/>
          <p:cNvSpPr/>
          <p:nvPr/>
        </p:nvSpPr>
        <p:spPr>
          <a:xfrm>
            <a:off x="844330" y="3370858"/>
            <a:ext cx="10503034" cy="29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"홍길동"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"본인메일@example.com"</a:t>
            </a:r>
            <a:endParaRPr lang="ko-KR" sz="700" dirty="0"/>
          </a:p>
        </p:txBody>
      </p:sp>
      <p:sp>
        <p:nvSpPr>
          <p:cNvPr id="16" name="Shape 14"/>
          <p:cNvSpPr/>
          <p:nvPr/>
        </p:nvSpPr>
        <p:spPr>
          <a:xfrm>
            <a:off x="734200" y="3807916"/>
            <a:ext cx="10723294" cy="624086"/>
          </a:xfrm>
          <a:prstGeom prst="roundRect">
            <a:avLst>
              <a:gd name="adj" fmla="val 22061"/>
            </a:avLst>
          </a:prstGeom>
          <a:solidFill>
            <a:srgbClr val="343438"/>
          </a:solidFill>
          <a:ln/>
        </p:spPr>
      </p:sp>
      <p:sp>
        <p:nvSpPr>
          <p:cNvPr id="17" name="Text 15"/>
          <p:cNvSpPr/>
          <p:nvPr/>
        </p:nvSpPr>
        <p:spPr>
          <a:xfrm>
            <a:off x="844330" y="3899694"/>
            <a:ext cx="1050303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"week01: 작업 공간 개설"</a:t>
            </a:r>
            <a:endParaRPr lang="ko-KR" sz="700" dirty="0"/>
          </a:p>
        </p:txBody>
      </p:sp>
      <p:sp>
        <p:nvSpPr>
          <p:cNvPr id="18" name="Shape 16"/>
          <p:cNvSpPr/>
          <p:nvPr/>
        </p:nvSpPr>
        <p:spPr>
          <a:xfrm>
            <a:off x="734200" y="4483596"/>
            <a:ext cx="10723294" cy="330398"/>
          </a:xfrm>
          <a:prstGeom prst="roundRect">
            <a:avLst>
              <a:gd name="adj" fmla="val 41671"/>
            </a:avLst>
          </a:prstGeom>
          <a:solidFill>
            <a:srgbClr val="343438"/>
          </a:solidFill>
          <a:ln/>
        </p:spPr>
      </p:sp>
      <p:sp>
        <p:nvSpPr>
          <p:cNvPr id="19" name="Text 17"/>
          <p:cNvSpPr/>
          <p:nvPr/>
        </p:nvSpPr>
        <p:spPr>
          <a:xfrm>
            <a:off x="844330" y="4575373"/>
            <a:ext cx="11112619" cy="146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34200" y="4865588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커밋 한 줄이 보이면 된다.</a:t>
            </a:r>
            <a:endParaRPr lang="ko-KR" sz="700" dirty="0"/>
          </a:p>
        </p:txBody>
      </p:sp>
      <p:sp>
        <p:nvSpPr>
          <p:cNvPr id="21" name="Text 19"/>
          <p:cNvSpPr/>
          <p:nvPr/>
        </p:nvSpPr>
        <p:spPr>
          <a:xfrm>
            <a:off x="734200" y="5044480"/>
            <a:ext cx="10723294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④ (권장) 개인 GitHub 에 올려 두기</a:t>
            </a:r>
            <a:endParaRPr lang="ko-KR" sz="1250" dirty="0"/>
          </a:p>
        </p:txBody>
      </p:sp>
      <p:sp>
        <p:nvSpPr>
          <p:cNvPr id="22" name="Text 20"/>
          <p:cNvSpPr/>
          <p:nvPr/>
        </p:nvSpPr>
        <p:spPr>
          <a:xfrm>
            <a:off x="734200" y="5317232"/>
            <a:ext cx="10723294" cy="27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오늘 검수 대상은 아니다.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다만 다음 주에 다른 자리에 앉으면 오늘 만든 것을 찾을 수 없으므로,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가능하면 오늘 안에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해 두는 편이 안전하다.</a:t>
            </a:r>
            <a:endParaRPr lang="ko-KR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GitHub 에서 빈 저장소 big-ark 를 만든 뒤</a:t>
            </a:r>
            <a:endParaRPr lang="ko-KR" sz="700" dirty="0"/>
          </a:p>
        </p:txBody>
      </p:sp>
      <p:sp>
        <p:nvSpPr>
          <p:cNvPr id="23" name="Shape 21"/>
          <p:cNvSpPr/>
          <p:nvPr/>
        </p:nvSpPr>
        <p:spPr>
          <a:xfrm>
            <a:off x="734200" y="5640685"/>
            <a:ext cx="10723294" cy="624086"/>
          </a:xfrm>
          <a:prstGeom prst="roundRect">
            <a:avLst>
              <a:gd name="adj" fmla="val 22061"/>
            </a:avLst>
          </a:prstGeom>
          <a:solidFill>
            <a:srgbClr val="343438"/>
          </a:solidFill>
          <a:ln/>
        </p:spPr>
      </p:sp>
      <p:sp>
        <p:nvSpPr>
          <p:cNvPr id="24" name="Text 22"/>
          <p:cNvSpPr/>
          <p:nvPr/>
        </p:nvSpPr>
        <p:spPr>
          <a:xfrm>
            <a:off x="844330" y="5732463"/>
            <a:ext cx="1050303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https://github.com/&lt;본인계정&gt;/big-ark.git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-M main</a:t>
            </a:r>
            <a:endParaRPr lang="ko-KR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7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ko-KR" sz="700" dirty="0"/>
          </a:p>
        </p:txBody>
      </p:sp>
      <p:sp>
        <p:nvSpPr>
          <p:cNvPr id="25" name="Text 23"/>
          <p:cNvSpPr/>
          <p:nvPr/>
        </p:nvSpPr>
        <p:spPr>
          <a:xfrm>
            <a:off x="734200" y="6316365"/>
            <a:ext cx="11332879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비밀번호를 물어보면 GitHub 계정 비밀번호가 아니라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토큰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이 필요하다. 오늘 막히면 그대로 두고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2주차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에 정식으로 다룬다.</a:t>
            </a:r>
            <a:endParaRPr lang="ko-KR" sz="700" dirty="0"/>
          </a:p>
        </p:txBody>
      </p:sp>
      <p:sp>
        <p:nvSpPr>
          <p:cNvPr id="26" name="Shape 24"/>
          <p:cNvSpPr/>
          <p:nvPr/>
        </p:nvSpPr>
        <p:spPr>
          <a:xfrm>
            <a:off x="734200" y="6478091"/>
            <a:ext cx="10723294" cy="353219"/>
          </a:xfrm>
          <a:prstGeom prst="roundRect">
            <a:avLst>
              <a:gd name="adj" fmla="val 38979"/>
            </a:avLst>
          </a:prstGeom>
          <a:solidFill>
            <a:srgbClr val="183A13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975" y="6546850"/>
            <a:ext cx="114694" cy="9177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32444" y="6546850"/>
            <a:ext cx="10333275" cy="220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완료 판정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첫 커밋이 남았고, week01 … week12 폴더가 서 있다.</a:t>
            </a:r>
            <a:endParaRPr lang="ko-KR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폴더 안에 무엇을 어떻게 쓸지(문서 체계)는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2주차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내용이다. 오늘은 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그릇만</a:t>
            </a:r>
            <a:pPr algn="l" indent="0" marL="0">
              <a:lnSpc>
                <a:spcPct val="100000"/>
              </a:lnSpc>
              <a:buNone/>
            </a:pPr>
            <a:r>
              <a:rPr lang="ko-KR" altLang="en-US" sz="70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만든다.</a:t>
            </a:r>
            <a:endParaRPr lang="ko-KR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14350"/>
            <a:ext cx="10723294" cy="350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20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P3. TFDS-Edu 조감과 경로 그리기 (30분)</a:t>
            </a:r>
            <a:endParaRPr lang="ko-KR" sz="2200" dirty="0"/>
          </a:p>
        </p:txBody>
      </p:sp>
      <p:sp>
        <p:nvSpPr>
          <p:cNvPr id="3" name="Text 1"/>
          <p:cNvSpPr/>
          <p:nvPr/>
        </p:nvSpPr>
        <p:spPr>
          <a:xfrm>
            <a:off x="734200" y="1038423"/>
            <a:ext cx="1133287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배포된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조감 노트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종이를 쓴다.</a:t>
            </a:r>
            <a:endParaRPr lang="ko-KR" sz="950" dirty="0"/>
          </a:p>
        </p:txBody>
      </p:sp>
      <p:sp>
        <p:nvSpPr>
          <p:cNvPr id="4" name="Text 2"/>
          <p:cNvSpPr/>
          <p:nvPr/>
        </p:nvSpPr>
        <p:spPr>
          <a:xfrm>
            <a:off x="734200" y="1338858"/>
            <a:ext cx="1072329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① 칸마다 회차 번호 (10분)</a:t>
            </a:r>
            <a:endParaRPr lang="ko-KR" sz="1750" dirty="0"/>
          </a:p>
        </p:txBody>
      </p:sp>
      <p:sp>
        <p:nvSpPr>
          <p:cNvPr id="5" name="Text 3"/>
          <p:cNvSpPr/>
          <p:nvPr/>
        </p:nvSpPr>
        <p:spPr>
          <a:xfrm>
            <a:off x="734200" y="1749326"/>
            <a:ext cx="1133287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각 칸이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몇 주차에 켜지는지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빈칸에 적는다. 1교시에 본 지도를 떠올린다.</a:t>
            </a:r>
            <a:endParaRPr lang="ko-KR" sz="950" dirty="0"/>
          </a:p>
        </p:txBody>
      </p:sp>
      <p:sp>
        <p:nvSpPr>
          <p:cNvPr id="6" name="Text 4"/>
          <p:cNvSpPr/>
          <p:nvPr/>
        </p:nvSpPr>
        <p:spPr>
          <a:xfrm>
            <a:off x="734200" y="2049760"/>
            <a:ext cx="1072329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② 마일스톤 대응</a:t>
            </a:r>
            <a:endParaRPr lang="ko-KR" sz="1750" dirty="0"/>
          </a:p>
        </p:txBody>
      </p:sp>
      <p:sp>
        <p:nvSpPr>
          <p:cNvPr id="7" name="Text 5"/>
          <p:cNvSpPr/>
          <p:nvPr/>
        </p:nvSpPr>
        <p:spPr>
          <a:xfrm>
            <a:off x="734200" y="2460228"/>
            <a:ext cx="1133287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M1 수집 / M2 저장 / M3 서빙·관측 / M4 완성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이 각각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어느 칸의 완성인지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적는다.</a:t>
            </a:r>
            <a:endParaRPr lang="ko-KR" sz="950" dirty="0"/>
          </a:p>
        </p:txBody>
      </p:sp>
      <p:sp>
        <p:nvSpPr>
          <p:cNvPr id="8" name="Text 6"/>
          <p:cNvSpPr/>
          <p:nvPr/>
        </p:nvSpPr>
        <p:spPr>
          <a:xfrm>
            <a:off x="734200" y="2760662"/>
            <a:ext cx="1072329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③ 경로 그리기 (20분) ★ 오늘의 중심</a:t>
            </a:r>
            <a:endParaRPr lang="ko-KR" sz="1750" dirty="0"/>
          </a:p>
        </p:txBody>
      </p:sp>
      <p:sp>
        <p:nvSpPr>
          <p:cNvPr id="9" name="Text 7"/>
          <p:cNvSpPr/>
          <p:nvPr/>
        </p:nvSpPr>
        <p:spPr>
          <a:xfrm>
            <a:off x="734200" y="3171130"/>
            <a:ext cx="1133287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센서에서 출발해 화면에 뜨기까지, 데이터가 한 번 지나가는 길을 화살표로 그린다.</a:t>
            </a:r>
            <a:endParaRPr lang="ko-KR" sz="950" dirty="0"/>
          </a:p>
        </p:txBody>
      </p:sp>
      <p:sp>
        <p:nvSpPr>
          <p:cNvPr id="10" name="Text 8"/>
          <p:cNvSpPr/>
          <p:nvPr/>
        </p:nvSpPr>
        <p:spPr>
          <a:xfrm>
            <a:off x="734200" y="3439021"/>
            <a:ext cx="10723294" cy="571798"/>
          </a:xfrm>
          <a:prstGeom prst="rect">
            <a:avLst/>
          </a:prstGeom>
          <a:noFill/>
          <a:ln/>
        </p:spPr>
        <p:txBody>
          <a:bodyPr wrap="square" lIns="0" tIns="50483" rIns="0" bIns="0" rtlCol="0" anchor="t">
            <a:normAutofit/>
          </a:bodyPr>
          <a:lstStyle/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도구 이름을 몰라도 된다. 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어디를 거쳐 가는가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만 본다</a:t>
            </a:r>
            <a:endParaRPr lang="ko-KR" sz="950" dirty="0"/>
          </a:p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중간에 길이 갈리는 곳이 있다. 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셋 다 그릴지, 하나만 고를지 스스로 정한다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— 정답은 오늘 주지 않는다</a:t>
            </a:r>
            <a:endParaRPr lang="ko-KR" sz="950" dirty="0"/>
          </a:p>
          <a:p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왜 갈리는지는 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4주차</a:t>
            </a:r>
            <a:pPr algn="l" marL="193040" indent="-193040">
              <a:lnSpc>
                <a:spcPct val="113000"/>
              </a:lnSpc>
              <a:buSzPct val="100000"/>
              <a:buChar char="•"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에 받는다</a:t>
            </a:r>
            <a:endParaRPr lang="ko-KR" sz="950" dirty="0"/>
          </a:p>
        </p:txBody>
      </p:sp>
      <p:sp>
        <p:nvSpPr>
          <p:cNvPr id="11" name="Text 9"/>
          <p:cNvSpPr/>
          <p:nvPr/>
        </p:nvSpPr>
        <p:spPr>
          <a:xfrm>
            <a:off x="734200" y="4140895"/>
            <a:ext cx="10723294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④ 리포지토리에 남기기</a:t>
            </a:r>
            <a:endParaRPr lang="ko-KR" sz="1750" dirty="0"/>
          </a:p>
        </p:txBody>
      </p:sp>
      <p:sp>
        <p:nvSpPr>
          <p:cNvPr id="12" name="Text 10"/>
          <p:cNvSpPr/>
          <p:nvPr/>
        </p:nvSpPr>
        <p:spPr>
          <a:xfrm>
            <a:off x="734200" y="4551363"/>
            <a:ext cx="11332879" cy="170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종이를 사진으로 찍어 week01\ 안에 넣는다.</a:t>
            </a:r>
            <a:endParaRPr lang="ko-KR" sz="950" dirty="0"/>
          </a:p>
        </p:txBody>
      </p:sp>
      <p:sp>
        <p:nvSpPr>
          <p:cNvPr id="13" name="Shape 11"/>
          <p:cNvSpPr/>
          <p:nvPr/>
        </p:nvSpPr>
        <p:spPr>
          <a:xfrm>
            <a:off x="734200" y="4819253"/>
            <a:ext cx="10723294" cy="858143"/>
          </a:xfrm>
          <a:prstGeom prst="roundRect">
            <a:avLst>
              <a:gd name="adj" fmla="val 22061"/>
            </a:avLst>
          </a:prstGeom>
          <a:solidFill>
            <a:srgbClr val="343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85604" y="4945459"/>
            <a:ext cx="10420486" cy="60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d:\dev\big-ark</a:t>
            </a:r>
            <a:endParaRPr lang="ko-KR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ko-KR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"week01: 조감 노트"</a:t>
            </a:r>
            <a:endParaRPr lang="ko-KR" sz="950" dirty="0"/>
          </a:p>
        </p:txBody>
      </p:sp>
      <p:sp>
        <p:nvSpPr>
          <p:cNvPr id="15" name="Shape 13"/>
          <p:cNvSpPr/>
          <p:nvPr/>
        </p:nvSpPr>
        <p:spPr>
          <a:xfrm>
            <a:off x="734200" y="5774928"/>
            <a:ext cx="10723294" cy="568623"/>
          </a:xfrm>
          <a:prstGeom prst="roundRect">
            <a:avLst>
              <a:gd name="adj" fmla="val 33293"/>
            </a:avLst>
          </a:prstGeom>
          <a:solidFill>
            <a:srgbClr val="183A13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03" y="5897066"/>
            <a:ext cx="157754" cy="12620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4360" y="5893197"/>
            <a:ext cx="10186931" cy="340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완료 판정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센서에서 화면까지 경로가 한 줄 이어졌다. 갈래를 몇 개 그렸는지는 보지 않는다.</a:t>
            </a:r>
            <a:endParaRPr lang="ko-KR" sz="9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모르는 칸은 비워 둔다 — 비운 것도 기록이다.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도구 이름의 정확성은 채점하지 않는다.</a:t>
            </a:r>
            <a:endParaRPr lang="ko-KR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58701"/>
            <a:ext cx="10723294" cy="45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8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P4. 오늘 가장 모르겠는 것 (15분)</a:t>
            </a:r>
            <a:endParaRPr lang="ko-KR" sz="2850" dirty="0"/>
          </a:p>
        </p:txBody>
      </p:sp>
      <p:sp>
        <p:nvSpPr>
          <p:cNvPr id="3" name="Text 1"/>
          <p:cNvSpPr/>
          <p:nvPr/>
        </p:nvSpPr>
        <p:spPr>
          <a:xfrm>
            <a:off x="734200" y="1304032"/>
            <a:ext cx="11332879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12주차에 열어 볼 질문을 스스로 만든다.</a:t>
            </a:r>
            <a:endParaRPr lang="ko-KR" sz="1250" dirty="0"/>
          </a:p>
        </p:txBody>
      </p:sp>
      <p:sp>
        <p:nvSpPr>
          <p:cNvPr id="4" name="Shape 2"/>
          <p:cNvSpPr/>
          <p:nvPr/>
        </p:nvSpPr>
        <p:spPr>
          <a:xfrm>
            <a:off x="734200" y="1715095"/>
            <a:ext cx="367795" cy="36780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5" name="Text 3"/>
          <p:cNvSpPr/>
          <p:nvPr/>
        </p:nvSpPr>
        <p:spPr>
          <a:xfrm>
            <a:off x="809059" y="1762720"/>
            <a:ext cx="21797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47545" y="1771253"/>
            <a:ext cx="293977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칸 하나 고르기</a:t>
            </a:r>
            <a:endParaRPr lang="ko-KR" sz="1400" dirty="0"/>
          </a:p>
        </p:txBody>
      </p:sp>
      <p:sp>
        <p:nvSpPr>
          <p:cNvPr id="7" name="Text 5"/>
          <p:cNvSpPr/>
          <p:nvPr/>
        </p:nvSpPr>
        <p:spPr>
          <a:xfrm>
            <a:off x="1247545" y="2085578"/>
            <a:ext cx="2939778" cy="741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조감 노트의 칸 중 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지금 가장 이해가 안 되는 칸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을 하나 고른다. "다 모르겠다"가 정상이고, 그중 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가장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모르겠는 하나를 지목한다.</a:t>
            </a:r>
            <a:endParaRPr lang="ko-KR" sz="1250" dirty="0"/>
          </a:p>
        </p:txBody>
      </p:sp>
      <p:sp>
        <p:nvSpPr>
          <p:cNvPr id="8" name="Shape 6"/>
          <p:cNvSpPr/>
          <p:nvPr/>
        </p:nvSpPr>
        <p:spPr>
          <a:xfrm>
            <a:off x="4369286" y="1715095"/>
            <a:ext cx="367795" cy="36780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9" name="Text 7"/>
          <p:cNvSpPr/>
          <p:nvPr/>
        </p:nvSpPr>
        <p:spPr>
          <a:xfrm>
            <a:off x="4444145" y="1762720"/>
            <a:ext cx="21797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82631" y="1771253"/>
            <a:ext cx="293977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한 줄 적기</a:t>
            </a:r>
            <a:endParaRPr lang="ko-KR" sz="1400" dirty="0"/>
          </a:p>
        </p:txBody>
      </p:sp>
      <p:sp>
        <p:nvSpPr>
          <p:cNvPr id="11" name="Text 9"/>
          <p:cNvSpPr/>
          <p:nvPr/>
        </p:nvSpPr>
        <p:spPr>
          <a:xfrm>
            <a:off x="4882631" y="2085578"/>
            <a:ext cx="2939778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무엇이 궁금한지 한 줄로 적는다. 왜 여기에 이게 필요한지 모르겠다 정도면 충분하다.</a:t>
            </a:r>
            <a:endParaRPr lang="ko-KR" sz="1250" dirty="0"/>
          </a:p>
        </p:txBody>
      </p:sp>
      <p:sp>
        <p:nvSpPr>
          <p:cNvPr id="12" name="Shape 10"/>
          <p:cNvSpPr/>
          <p:nvPr/>
        </p:nvSpPr>
        <p:spPr>
          <a:xfrm>
            <a:off x="8004372" y="1715095"/>
            <a:ext cx="367795" cy="367804"/>
          </a:xfrm>
          <a:prstGeom prst="ellipse">
            <a:avLst/>
          </a:prstGeom>
          <a:solidFill>
            <a:srgbClr val="46464A"/>
          </a:solidFill>
          <a:ln/>
        </p:spPr>
      </p:sp>
      <p:sp>
        <p:nvSpPr>
          <p:cNvPr id="13" name="Text 11"/>
          <p:cNvSpPr/>
          <p:nvPr/>
        </p:nvSpPr>
        <p:spPr>
          <a:xfrm>
            <a:off x="8079230" y="1762720"/>
            <a:ext cx="217978" cy="2724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517717" y="1771253"/>
            <a:ext cx="2939778" cy="227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4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봉인하고 커밋</a:t>
            </a:r>
            <a:endParaRPr lang="ko-KR" sz="1400" dirty="0"/>
          </a:p>
        </p:txBody>
      </p:sp>
      <p:sp>
        <p:nvSpPr>
          <p:cNvPr id="15" name="Text 13"/>
          <p:cNvSpPr/>
          <p:nvPr/>
        </p:nvSpPr>
        <p:spPr>
          <a:xfrm>
            <a:off x="8517717" y="2085578"/>
            <a:ext cx="2939778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배포된 봉인답안_양식.md 를 week01\봉인답안.md 로 복사해 채운다.</a:t>
            </a:r>
            <a:endParaRPr lang="ko-KR" sz="1250" dirty="0"/>
          </a:p>
        </p:txBody>
      </p:sp>
      <p:sp>
        <p:nvSpPr>
          <p:cNvPr id="16" name="Shape 14"/>
          <p:cNvSpPr/>
          <p:nvPr/>
        </p:nvSpPr>
        <p:spPr>
          <a:xfrm>
            <a:off x="734200" y="2991148"/>
            <a:ext cx="10723294" cy="1111448"/>
          </a:xfrm>
          <a:prstGeom prst="roundRect">
            <a:avLst>
              <a:gd name="adj" fmla="val 22065"/>
            </a:avLst>
          </a:prstGeom>
          <a:solidFill>
            <a:srgbClr val="343438"/>
          </a:solidFill>
          <a:ln/>
        </p:spPr>
      </p:sp>
      <p:sp>
        <p:nvSpPr>
          <p:cNvPr id="17" name="Text 15"/>
          <p:cNvSpPr/>
          <p:nvPr/>
        </p:nvSpPr>
        <p:spPr>
          <a:xfrm>
            <a:off x="930351" y="3154561"/>
            <a:ext cx="10330993" cy="784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d:\dev\big-ark</a:t>
            </a:r>
            <a:endParaRPr lang="ko-KR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ko-KR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ko-KR" alt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"week01: 봉인 답안"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734200" y="4266406"/>
            <a:ext cx="10723294" cy="605334"/>
          </a:xfrm>
          <a:prstGeom prst="roundRect">
            <a:avLst>
              <a:gd name="adj" fmla="val 40514"/>
            </a:avLst>
          </a:prstGeom>
          <a:solidFill>
            <a:srgbClr val="4B3F02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610" y="4474766"/>
            <a:ext cx="204286" cy="16341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65305" y="4452739"/>
            <a:ext cx="10638365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★ 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커밋한 뒤에는 12주차까지 열지 않는다.</a:t>
            </a:r>
            <a:endParaRPr lang="ko-KR" sz="1250" dirty="0"/>
          </a:p>
        </p:txBody>
      </p:sp>
      <p:sp>
        <p:nvSpPr>
          <p:cNvPr id="21" name="Text 18"/>
          <p:cNvSpPr/>
          <p:nvPr/>
        </p:nvSpPr>
        <p:spPr>
          <a:xfrm>
            <a:off x="734200" y="5035550"/>
            <a:ext cx="11332879" cy="247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D7D4CC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완료 판정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D7D4CC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: 칸 1개와 궁금한 것 1줄이 봉인됐다. 질문의 수준은 채점하지 않는다.</a:t>
            </a:r>
            <a:endParaRPr lang="ko-KR" sz="1250" dirty="0"/>
          </a:p>
        </p:txBody>
      </p:sp>
      <p:sp>
        <p:nvSpPr>
          <p:cNvPr id="22" name="Shape 19"/>
          <p:cNvSpPr/>
          <p:nvPr/>
        </p:nvSpPr>
        <p:spPr>
          <a:xfrm>
            <a:off x="734200" y="5446613"/>
            <a:ext cx="10723294" cy="852587"/>
          </a:xfrm>
          <a:prstGeom prst="roundRect">
            <a:avLst>
              <a:gd name="adj" fmla="val 28765"/>
            </a:avLst>
          </a:prstGeom>
          <a:solidFill>
            <a:srgbClr val="806A0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10" y="5654973"/>
            <a:ext cx="204286" cy="16341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265305" y="5632946"/>
            <a:ext cx="10028780" cy="494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ko-KR" altLang="en-US" sz="1250" b="1" dirty="0">
                <a:solidFill>
                  <a:srgbClr val="FFFFFF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모른다는 것은 지금 확실히 아는 유일한 것이다.</a:t>
            </a:r>
            <a:pPr algn="l" indent="0" marL="0">
              <a:lnSpc>
                <a:spcPct val="126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Raleway Medium" pitchFamily="34" charset="0"/>
                <a:ea typeface="Raleway Medium" pitchFamily="34" charset="-122"/>
                <a:cs typeface="Raleway Medium" pitchFamily="34" charset="-120"/>
              </a:rPr>
              <a:t> 12주 뒤에는 무엇을 몰랐는지조차 기억나지 않으므로, 오늘 적어 두지 않으면 자신이 얼마나 왔는지 잴 기준이 없어진다.</a:t>
            </a:r>
            <a:endParaRPr lang="ko-KR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537567"/>
            <a:ext cx="6151409" cy="485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FFE14D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오늘 제출물 확인</a:t>
            </a:r>
            <a:endParaRPr lang="ko-KR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273671"/>
            <a:ext cx="6151409" cy="11366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04934" y="1404838"/>
            <a:ext cx="209942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928168" y="1973461"/>
            <a:ext cx="576347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docker run hello-world 가 메시지를 출력한다</a:t>
            </a:r>
            <a:endParaRPr lang="ko-KR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577009"/>
            <a:ext cx="6151409" cy="11366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04934" y="2708176"/>
            <a:ext cx="209942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2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928168" y="3276798"/>
            <a:ext cx="576347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d:\dev\big-ark 에 첫 커밋이 남았다</a:t>
            </a:r>
            <a:endParaRPr lang="ko-KR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3880346"/>
            <a:ext cx="6151409" cy="11366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04934" y="4011513"/>
            <a:ext cx="209942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3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28168" y="4580136"/>
            <a:ext cx="576347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week01\ 에 조감 노트가 들어갔다</a:t>
            </a:r>
            <a:endParaRPr lang="ko-KR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4200" y="5183684"/>
            <a:ext cx="6151409" cy="11366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704934" y="5314851"/>
            <a:ext cx="209942" cy="262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4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928168" y="5883473"/>
            <a:ext cx="576347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D7D4CC"/>
                </a:solidFill>
                <a:latin typeface="Comfortaa Bold" pitchFamily="34" charset="0"/>
                <a:ea typeface="Comfortaa Bold" pitchFamily="34" charset="-122"/>
                <a:cs typeface="Comfortaa Bold" pitchFamily="34" charset="-120"/>
              </a:rPr>
              <a:t>week01\봉인답안.md 가 커밋됐다</a:t>
            </a:r>
            <a:endParaRPr lang="ko-KR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2026-08-24T02:28:18Z</dcterms:created>
  <dcterms:modified xsi:type="dcterms:W3CDTF">2026-08-24T02:28:18Z</dcterms:modified>
</cp:coreProperties>
</file>